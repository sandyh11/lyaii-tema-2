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1" r:id="rId1"/>
  </p:sldMasterIdLst>
  <p:sldIdLst>
    <p:sldId id="256" r:id="rId2"/>
    <p:sldId id="260" r:id="rId3"/>
    <p:sldId id="262" r:id="rId4"/>
    <p:sldId id="261" r:id="rId5"/>
    <p:sldId id="257" r:id="rId6"/>
    <p:sldId id="258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618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079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105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665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602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033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023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855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283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54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421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3338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5308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0601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4468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359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15BEA-9F05-4E52-A2FA-932AEAECF428}" type="datetimeFigureOut">
              <a:rPr lang="es-MX" smtClean="0"/>
              <a:t>12/10/2025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22954E2-87A1-4B59-A503-61E1156795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19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760516" y="814155"/>
            <a:ext cx="10670967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Modalidad Escolarizada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Materia: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Lenguajes y Autómatas II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Semestre: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Séptimo semestre 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Carrera: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Ingeniería en Sistemas Computacionales.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Numero de control: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221260080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Nombre del alumno: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Sandy Isabel Guox Hernández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Nombre del docente: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Francisco Javier Mingo Velázquez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Actividad: 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3.2 Costos.</a:t>
            </a:r>
          </a:p>
          <a:p>
            <a:pPr algn="ctr">
              <a:lnSpc>
                <a:spcPct val="150000"/>
              </a:lnSpc>
            </a:pPr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Frontera Comalapa, Chiapas a 13 de octubre del 2025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28F797-4198-4737-B515-21F90D31B33C}"/>
              </a:ext>
            </a:extLst>
          </p:cNvPr>
          <p:cNvPicPr/>
          <p:nvPr/>
        </p:nvPicPr>
        <p:blipFill rotWithShape="1">
          <a:blip r:embed="rId2"/>
          <a:srcRect l="905" t="8280" b="-1"/>
          <a:stretch/>
        </p:blipFill>
        <p:spPr bwMode="auto">
          <a:xfrm>
            <a:off x="2008848" y="0"/>
            <a:ext cx="7829743" cy="9162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0849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760516" y="323115"/>
            <a:ext cx="10670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7434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C0038B-8407-4B31-ACD8-239840A9BEE4}"/>
              </a:ext>
            </a:extLst>
          </p:cNvPr>
          <p:cNvSpPr txBox="1"/>
          <p:nvPr/>
        </p:nvSpPr>
        <p:spPr>
          <a:xfrm>
            <a:off x="2247727" y="1363148"/>
            <a:ext cx="9546708" cy="5171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En el proceso de optimización de un compilador, uno de los aspectos más importantes a considerar son los costos asociados a la ejecución de un programa. Cuando hablamos de costos, no nos referimos únicamente al dinero, sino a los recursos del sistema que el programa utiliza para poder ejecutarse correctamente.</a:t>
            </a:r>
          </a:p>
        </p:txBody>
      </p:sp>
      <p:pic>
        <p:nvPicPr>
          <p:cNvPr id="3074" name="Picture 2" descr="Iconos de computadora, icono de introducción, cdr, ángulo, blanco png |  PNGWing">
            <a:extLst>
              <a:ext uri="{FF2B5EF4-FFF2-40B4-BE49-F238E27FC236}">
                <a16:creationId xmlns:a16="http://schemas.microsoft.com/office/drawing/2014/main" id="{58A64641-11CF-4F37-AEDF-1B105F624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90" b="99153" l="2222" r="96667">
                        <a14:foregroundMark x1="56667" y1="7345" x2="56667" y2="7345"/>
                        <a14:foregroundMark x1="79167" y1="5367" x2="79167" y2="5367"/>
                        <a14:foregroundMark x1="72500" y1="3672" x2="80556" y2="4802"/>
                        <a14:foregroundMark x1="90278" y1="7627" x2="96944" y2="23446"/>
                        <a14:foregroundMark x1="96944" y1="23446" x2="97222" y2="63559"/>
                        <a14:foregroundMark x1="77500" y1="89831" x2="77500" y2="89831"/>
                        <a14:foregroundMark x1="83889" y1="62994" x2="83889" y2="62994"/>
                        <a14:foregroundMark x1="86944" y1="63559" x2="97222" y2="69492"/>
                        <a14:foregroundMark x1="96111" y1="66102" x2="88333" y2="81921"/>
                        <a14:foregroundMark x1="74167" y1="92938" x2="85000" y2="87853"/>
                        <a14:foregroundMark x1="64722" y1="96610" x2="68333" y2="99153"/>
                        <a14:foregroundMark x1="13333" y1="92655" x2="21667" y2="95198"/>
                        <a14:foregroundMark x1="2222" y1="37853" x2="3056" y2="60452"/>
                        <a14:foregroundMark x1="5278" y1="25424" x2="5000" y2="12429"/>
                        <a14:foregroundMark x1="22998" y1="8609" x2="36944" y2="7345"/>
                        <a14:foregroundMark x1="14389" y1="9389" x2="14821" y2="9350"/>
                        <a14:foregroundMark x1="8889" y1="9887" x2="14045" y2="9420"/>
                        <a14:foregroundMark x1="43056" y1="5367" x2="67500" y2="5367"/>
                        <a14:foregroundMark x1="67500" y1="5367" x2="69722" y2="4802"/>
                        <a14:foregroundMark x1="30833" y1="5367" x2="64444" y2="5367"/>
                        <a14:foregroundMark x1="15278" y1="3390" x2="66667" y2="4802"/>
                        <a14:foregroundMark x1="5833" y1="20621" x2="3333" y2="48870"/>
                        <a14:foregroundMark x1="62778" y1="27684" x2="62778" y2="27684"/>
                        <a14:foregroundMark x1="66111" y1="50847" x2="66111" y2="50847"/>
                        <a14:foregroundMark x1="47778" y1="49718" x2="47778" y2="49718"/>
                        <a14:foregroundMark x1="39722" y1="48870" x2="39722" y2="48870"/>
                        <a14:foregroundMark x1="29722" y1="49435" x2="29722" y2="49435"/>
                        <a14:foregroundMark x1="41389" y1="49435" x2="41389" y2="49435"/>
                        <a14:foregroundMark x1="46667" y1="49435" x2="62222" y2="48023"/>
                        <a14:foregroundMark x1="62222" y1="48023" x2="63611" y2="47458"/>
                        <a14:foregroundMark x1="41389" y1="31356" x2="68056" y2="29379"/>
                        <a14:foregroundMark x1="30833" y1="29661" x2="42500" y2="28531"/>
                        <a14:foregroundMark x1="24167" y1="30508" x2="24167" y2="30508"/>
                        <a14:foregroundMark x1="26111" y1="28814" x2="35556" y2="30508"/>
                        <a14:foregroundMark x1="71667" y1="29379" x2="73333" y2="29379"/>
                        <a14:foregroundMark x1="68333" y1="26836" x2="79167" y2="28531"/>
                        <a14:foregroundMark x1="59167" y1="48870" x2="72500" y2="49435"/>
                        <a14:foregroundMark x1="25278" y1="51412" x2="40000" y2="52825"/>
                        <a14:foregroundMark x1="75278" y1="46893" x2="79444" y2="48588"/>
                        <a14:foregroundMark x1="31111" y1="69774" x2="40000" y2="69774"/>
                        <a14:foregroundMark x1="23889" y1="68644" x2="38611" y2="69774"/>
                        <a14:foregroundMark x1="41667" y1="71751" x2="47500" y2="70621"/>
                        <a14:foregroundMark x1="2500" y1="69774" x2="5833" y2="82203"/>
                        <a14:foregroundMark x1="3889" y1="88983" x2="13333" y2="98305"/>
                        <a14:foregroundMark x1="24167" y1="98305" x2="47778" y2="98305"/>
                        <a14:foregroundMark x1="66111" y1="81921" x2="66667" y2="93220"/>
                        <a14:foregroundMark x1="67500" y1="77684" x2="69498" y2="76858"/>
                        <a14:foregroundMark x1="75000" y1="69492" x2="83889" y2="66949"/>
                        <a14:backgroundMark x1="3056" y1="4237" x2="3056" y2="4237"/>
                        <a14:backgroundMark x1="50556" y1="81921" x2="50556" y2="81921"/>
                        <a14:backgroundMark x1="16389" y1="10734" x2="21667" y2="10734"/>
                        <a14:backgroundMark x1="13889" y1="10734" x2="18889" y2="11299"/>
                        <a14:backgroundMark x1="14722" y1="11582" x2="14722" y2="10452"/>
                        <a14:backgroundMark x1="79444" y1="79661" x2="79444" y2="79661"/>
                        <a14:backgroundMark x1="76389" y1="73164" x2="73056" y2="78814"/>
                        <a14:backgroundMark x1="14722" y1="9887" x2="18333" y2="104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53" y="169913"/>
            <a:ext cx="1579190" cy="155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02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760516" y="398276"/>
            <a:ext cx="10670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7434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C3E510-BF11-4FD5-BB17-B2809A85DD20}"/>
              </a:ext>
            </a:extLst>
          </p:cNvPr>
          <p:cNvSpPr txBox="1"/>
          <p:nvPr/>
        </p:nvSpPr>
        <p:spPr>
          <a:xfrm>
            <a:off x="1930400" y="1465260"/>
            <a:ext cx="9871198" cy="518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El estudio de los costos en la optimización es fundamental porque permite comprender que mejorar un programa no solo implica hacerlo más rápido o eficiente, sino también evaluar el esfuerzo, los recursos y el tiempo necesarios para lograrlo. Analizar los costos ayuda a los programadores y compiladores a tomar decisiones equilibradas, evitando optimizaciones innecesarias que puedan aumentar la complejidad o el riesgo de errores.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DDC84BF-76BD-4C5F-B5F5-81688E612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88" b="99609" l="10000" r="90000">
                        <a14:foregroundMark x1="53056" y1="5078" x2="53056" y2="5078"/>
                        <a14:foregroundMark x1="50000" y1="99609" x2="50000" y2="996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558" y="209590"/>
            <a:ext cx="2027573" cy="144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0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760514" y="222842"/>
            <a:ext cx="10670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9933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3.2 Costos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58BB52-CC6B-41CE-A895-18DAADE4591D}"/>
              </a:ext>
            </a:extLst>
          </p:cNvPr>
          <p:cNvSpPr txBox="1"/>
          <p:nvPr/>
        </p:nvSpPr>
        <p:spPr>
          <a:xfrm>
            <a:off x="760514" y="1146172"/>
            <a:ext cx="10670967" cy="295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Los costos son el factor más importante a tomar en cuenta a la hora de optimizar ya que en ocasiones la mejora obtenida puede verse no reflejada en el programa final, pero si ser perjudicial para el equipo de desarrollo.</a:t>
            </a:r>
          </a:p>
        </p:txBody>
      </p:sp>
      <p:pic>
        <p:nvPicPr>
          <p:cNvPr id="2050" name="Picture 2" descr="Optimización de Costos: Clave para el Éxito Empresarial">
            <a:extLst>
              <a:ext uri="{FF2B5EF4-FFF2-40B4-BE49-F238E27FC236}">
                <a16:creationId xmlns:a16="http://schemas.microsoft.com/office/drawing/2014/main" id="{3A60BC5C-CC90-44A9-8F2A-14CE678E64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2"/>
          <a:stretch/>
        </p:blipFill>
        <p:spPr bwMode="auto">
          <a:xfrm>
            <a:off x="6758607" y="4341302"/>
            <a:ext cx="4333461" cy="2101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ptimización de Costos en Desarrollo de Software: Consejos Prácticos">
            <a:extLst>
              <a:ext uri="{FF2B5EF4-FFF2-40B4-BE49-F238E27FC236}">
                <a16:creationId xmlns:a16="http://schemas.microsoft.com/office/drawing/2014/main" id="{4AC393F1-D148-4A2C-84E6-559891E89D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97" r="26305"/>
          <a:stretch/>
        </p:blipFill>
        <p:spPr bwMode="auto">
          <a:xfrm>
            <a:off x="2120348" y="4341063"/>
            <a:ext cx="3445567" cy="21013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63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1178906" y="143581"/>
            <a:ext cx="10670967" cy="442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9933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Evaluación del costo</a:t>
            </a:r>
            <a:endParaRPr lang="es-MX" dirty="0">
              <a:solidFill>
                <a:srgbClr val="99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Antes de optimizar, es necesario evaluar: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Si la mejora realmente impacta el desempeño.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Si el tiempo invertido en optimizar es razonable.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Si la complejidad añadida vale la pena.</a:t>
            </a:r>
          </a:p>
        </p:txBody>
      </p:sp>
      <p:pic>
        <p:nvPicPr>
          <p:cNvPr id="1026" name="Picture 2" descr="Lenguajes Autómatas 2: marzo 2020">
            <a:extLst>
              <a:ext uri="{FF2B5EF4-FFF2-40B4-BE49-F238E27FC236}">
                <a16:creationId xmlns:a16="http://schemas.microsoft.com/office/drawing/2014/main" id="{D8F56690-1D5A-4FDC-8D6B-21A90723D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694" y="4708785"/>
            <a:ext cx="2686984" cy="19658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3B62D13-F001-4FA9-89CD-0A5B4F129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927" y="4708786"/>
            <a:ext cx="3493856" cy="19658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344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760516" y="238539"/>
            <a:ext cx="106709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9933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Importancia de los costos en la optimización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5CCF4A-7D28-492E-A5AF-50E1044DA1AF}"/>
              </a:ext>
            </a:extLst>
          </p:cNvPr>
          <p:cNvSpPr txBox="1"/>
          <p:nvPr/>
        </p:nvSpPr>
        <p:spPr>
          <a:xfrm>
            <a:off x="1510747" y="2089522"/>
            <a:ext cx="10331552" cy="4433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Permiten evaluar si una mejora es conveniente o no.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Ayudan a evitar optimizaciones innecesarias.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Mantienen un equilibrio entre rendimiento, claridad y mantenimiento del código.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Guían al compilador o al programador a tomar decisiones más eficientes.</a:t>
            </a:r>
          </a:p>
        </p:txBody>
      </p:sp>
    </p:spTree>
    <p:extLst>
      <p:ext uri="{BB962C8B-B14F-4D97-AF65-F5344CB8AC3E}">
        <p14:creationId xmlns:p14="http://schemas.microsoft.com/office/powerpoint/2010/main" val="133754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241110" y="159026"/>
            <a:ext cx="11709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9933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Características principales de los costos en optimización: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5CCF4A-7D28-492E-A5AF-50E1044DA1AF}"/>
              </a:ext>
            </a:extLst>
          </p:cNvPr>
          <p:cNvSpPr txBox="1"/>
          <p:nvPr/>
        </p:nvSpPr>
        <p:spPr>
          <a:xfrm>
            <a:off x="1431234" y="2006118"/>
            <a:ext cx="10358055" cy="4536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Relativos: 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Cambian según el tipo de programa o el entorno.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Medibles: 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Se pueden estimar en tiempo, esfuerzo o recursos.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Comparativos: 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Permiten analizar si una optimización ofrece más beneficios que costos.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Acumulativos: 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Varias optimizaciones pequeñas pueden generar un costo total alto.</a:t>
            </a:r>
          </a:p>
        </p:txBody>
      </p:sp>
    </p:spTree>
    <p:extLst>
      <p:ext uri="{BB962C8B-B14F-4D97-AF65-F5344CB8AC3E}">
        <p14:creationId xmlns:p14="http://schemas.microsoft.com/office/powerpoint/2010/main" val="340281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760516" y="487885"/>
            <a:ext cx="10670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7434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Conclusión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1D5D70-AA6A-45F6-807F-3E5203CA517F}"/>
              </a:ext>
            </a:extLst>
          </p:cNvPr>
          <p:cNvSpPr txBox="1"/>
          <p:nvPr/>
        </p:nvSpPr>
        <p:spPr>
          <a:xfrm>
            <a:off x="1961322" y="1668159"/>
            <a:ext cx="9814718" cy="4433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Los costos son el factor importante en cualquier proceso de optimización; permiten decidir dónde y cuándo optimizar, garantizando que el resultado final sea eficiente y equilibrado.</a:t>
            </a:r>
          </a:p>
          <a:p>
            <a:pPr algn="just">
              <a:lnSpc>
                <a:spcPct val="150000"/>
              </a:lnSpc>
            </a:pPr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Optimizar sin considerar los costos puede perjudicar más que beneficiar al desarrollo del software.</a:t>
            </a:r>
          </a:p>
        </p:txBody>
      </p:sp>
      <p:pic>
        <p:nvPicPr>
          <p:cNvPr id="4098" name="Picture 2" descr="Conclusión - Iconos gratis de tecnología">
            <a:extLst>
              <a:ext uri="{FF2B5EF4-FFF2-40B4-BE49-F238E27FC236}">
                <a16:creationId xmlns:a16="http://schemas.microsoft.com/office/drawing/2014/main" id="{3A849052-13D8-49FC-B0AE-6BABB640E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87" y="321729"/>
            <a:ext cx="1626704" cy="162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14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9EA9BE1-41FB-4529-BE06-5A67E96822B5}"/>
              </a:ext>
            </a:extLst>
          </p:cNvPr>
          <p:cNvSpPr txBox="1"/>
          <p:nvPr/>
        </p:nvSpPr>
        <p:spPr>
          <a:xfrm>
            <a:off x="760516" y="149771"/>
            <a:ext cx="10670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7434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Referencias</a:t>
            </a:r>
            <a:endParaRPr lang="es-MX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73648A-AF19-42F7-A334-23FC2D4BDFAD}"/>
              </a:ext>
            </a:extLst>
          </p:cNvPr>
          <p:cNvSpPr txBox="1"/>
          <p:nvPr/>
        </p:nvSpPr>
        <p:spPr>
          <a:xfrm>
            <a:off x="1749287" y="1132920"/>
            <a:ext cx="10033379" cy="557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3.2 Costos. Lenguajes y Autómatas II. (s/f). Prezi.com. Recuperado el 12 de octubre de 2025, de https://prezi.com/p/g-ds2g06nq9b/32-costos-lenguajes-y-automatas-ii/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Completo, V. mi P. (s/f). LENGUAJES Y AUTOMATAS II. Blogspot.com. Recuperado el 12 de octubre de 2025, de https://joseandresgomezlopez1997.blogspot.com/2019/10/32-costos.html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Lenguajes &amp; autómatas 2 - unidad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 Optimización - costos. (s/f).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Genially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 Recuperado el 12 de octubre de 2025, de https://view.genially.com/654c0d121404840011b5330c/presentation-lenguajes-and-automatas-2-unidad-iii-optimizacion-costos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(S/f). Studocu.com. Recuperado el 12 de octubre de 2025, de https://www.studocu.com/es-mx/document/instituto-tecnologico-de-ciudad-victoria/l-y-a-ii/32-costos/94297341</a:t>
            </a:r>
          </a:p>
        </p:txBody>
      </p:sp>
      <p:pic>
        <p:nvPicPr>
          <p:cNvPr id="5122" name="Picture 2" descr="Bibliografía - Iconos gratis de">
            <a:extLst>
              <a:ext uri="{FF2B5EF4-FFF2-40B4-BE49-F238E27FC236}">
                <a16:creationId xmlns:a16="http://schemas.microsoft.com/office/drawing/2014/main" id="{8C8452A7-4D09-4425-BDD5-3128E0A6B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34" y="344231"/>
            <a:ext cx="1457739" cy="145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60709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154</TotalTime>
  <Words>571</Words>
  <Application>Microsoft Office PowerPoint</Application>
  <PresentationFormat>Panorámica</PresentationFormat>
  <Paragraphs>40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Sandy</dc:creator>
  <cp:lastModifiedBy>Sandy</cp:lastModifiedBy>
  <cp:revision>34</cp:revision>
  <dcterms:created xsi:type="dcterms:W3CDTF">2025-08-27T04:44:30Z</dcterms:created>
  <dcterms:modified xsi:type="dcterms:W3CDTF">2025-10-12T21:13:05Z</dcterms:modified>
</cp:coreProperties>
</file>